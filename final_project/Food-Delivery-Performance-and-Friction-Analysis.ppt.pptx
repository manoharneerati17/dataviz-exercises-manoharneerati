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3.svg" ContentType="image/svg+xml"/>
  <Override PartName="/ppt/media/image-5-2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9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rata"/>
      <p:regular r:id="rId201314"/>
    </p:embeddedFont>
    <p:embeddedFont>
      <p:font typeface="Raleway Bold"/>
      <p:regular r:id="rId201315"/>
    </p:embeddedFont>
    <p:embeddedFont>
      <p:font typeface="Raleway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670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Food Delivery Performance &amp; Friction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92826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Optimizing Delivery Durations, Vehicle Fleet Efficiency, and Weather/Traffic Resilience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541365"/>
            <a:ext cx="1852687" cy="215354"/>
          </a:xfrm>
          <a:prstGeom prst="roundRect">
            <a:avLst>
              <a:gd name="adj" fmla="val 7900"/>
            </a:avLst>
          </a:prstGeom>
          <a:solidFill>
            <a:srgbClr val="443D09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010174" y="3583856"/>
            <a:ext cx="213977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OPERATIONS ANALYTICS TEAM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5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Executive Summary &amp; Project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7121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Objective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052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and quantify operational bottlenecks driving food delivery latency across fleet, environment, and human factors.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14468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Dimensions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7874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Multi-variable evaluation spanning delivery duration, prep time, vehicle type, weather conditions, traffic levels, and courier experience.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191842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71660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392612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36902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Primary Finding: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Severe weather and evening traffic spikes account for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over 40%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of delivery delay variance. Bike fleet efficiency decays rapidly beyond 12 km.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14508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Vehicle Fleet Scaling &amp; Route Efficiency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Fleet Insights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1858045"/>
            <a:ext cx="1880592" cy="22618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86710" y="2018854"/>
            <a:ext cx="14827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Bikes: Short-Range Specialists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86710" y="2824981"/>
            <a:ext cx="148277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Dominate under 5 km with high agility, but speed decays exponentially past 12 km.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2052" y="1858045"/>
            <a:ext cx="1880592" cy="22618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09061" y="2018854"/>
            <a:ext cx="14827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Cars &amp; Scooters: Long-Distance Stability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009061" y="2824981"/>
            <a:ext cx="148277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Maintain consistent travel speeds across all long-distance routes, outperforming bikes beyond 12 km.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173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Environmental Impact: Weather &amp; Traffic Delays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521223"/>
            <a:ext cx="4004965" cy="1270471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37877" y="2662982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Automobiles Lead Resilience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969493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Cars demonstrate the highest weather resilience, significantly outperforming two-wheelers in extreme conditions.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521223"/>
            <a:ext cx="4005039" cy="1270471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84601" y="2662982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Two-Wheelers Most Vulnerable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969493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Bikes and scooters face disproportionate delay penalties during snow and heavy rain events.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5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Peak Operational Hours &amp; Bottleneck Matrix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445916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441525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Evening Peak (6pm–9pm)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748037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congestion, longest delays, greatest ETA variance.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2445916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441525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Late-Night Window (9pm–12am)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748037"/>
            <a:ext cx="352663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predictability and lowest standard deviation in delivery times — ideal for reliability-focused dispatch.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Kitchen Preparation vs. Transit Stage Split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Latency Driver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Kitchen preparation time remains remarkably stable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~17 minutes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across all conditions — confirming that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environmental transit factors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not kitchen operations, are the primary drivers of total order latency.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07060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71660F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12211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070027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Transit time varies by up 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150%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across weather and traffic scenarios, while prep time variance is under 6%.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67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Courier Experience as a Mitigation Factor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394124"/>
            <a:ext cx="4004965" cy="1081757"/>
          </a:xfrm>
          <a:prstGeom prst="roundRect">
            <a:avLst>
              <a:gd name="adj" fmla="val 1966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6927" y="2554932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Route Optimization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86144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Senior couriers consistently select faster alternate routes during congestion events.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394124"/>
            <a:ext cx="4005039" cy="1081757"/>
          </a:xfrm>
          <a:prstGeom prst="roundRect">
            <a:avLst>
              <a:gd name="adj" fmla="val 1966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03651" y="2554932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Training Opportunity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3651" y="286144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Veteran route strategies represent an underutilized asset for onboarding and training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179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Multi-Factor Operational Bottleneck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23355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long distances, high prep times, and severe weather converge, delays compound non-linearly_creating critical friction zones that demand targeted intervention.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05645"/>
            <a:ext cx="4009355" cy="1546473"/>
          </a:xfrm>
          <a:prstGeom prst="roundRect">
            <a:avLst>
              <a:gd name="adj" fmla="val 1332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33413" y="1842939"/>
            <a:ext cx="411956" cy="411956"/>
          </a:xfrm>
          <a:prstGeom prst="ellipse">
            <a:avLst/>
          </a:prstGeom>
          <a:solidFill>
            <a:srgbClr val="D2AC47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671" y="1956197"/>
            <a:ext cx="185365" cy="185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413" y="2387873"/>
            <a:ext cx="37347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Long Distance (&gt;12 km)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3413" y="2682180"/>
            <a:ext cx="37347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Bike fleet efficiency collapses; cars and scooters required to maintain service levels.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38452" y="1705645"/>
            <a:ext cx="4009430" cy="1546473"/>
          </a:xfrm>
          <a:prstGeom prst="roundRect">
            <a:avLst>
              <a:gd name="adj" fmla="val 1332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775746" y="1842939"/>
            <a:ext cx="411956" cy="411956"/>
          </a:xfrm>
          <a:prstGeom prst="ellipse">
            <a:avLst/>
          </a:prstGeom>
          <a:solidFill>
            <a:srgbClr val="D2AC47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004" y="1956197"/>
            <a:ext cx="185365" cy="1853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5746" y="2387873"/>
            <a:ext cx="37348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Severe Weather Events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75746" y="2682180"/>
            <a:ext cx="37348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Snow and heavy rain amplify transit delays by up to 43% when combined with peak traffic.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6119" y="3385096"/>
            <a:ext cx="8151763" cy="1330151"/>
          </a:xfrm>
          <a:prstGeom prst="roundRect">
            <a:avLst>
              <a:gd name="adj" fmla="val 1549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33413" y="3522390"/>
            <a:ext cx="411956" cy="411956"/>
          </a:xfrm>
          <a:prstGeom prst="ellipse">
            <a:avLst/>
          </a:prstGeom>
          <a:solidFill>
            <a:srgbClr val="D2AC47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671" y="3635648"/>
            <a:ext cx="185365" cy="1853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413" y="4067324"/>
            <a:ext cx="7877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Evening Traffic Peaks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3413" y="4361631"/>
            <a:ext cx="7877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6pm–9pm window drives the highest daily friction — dynamic EDT adjustments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148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Recommendations &amp; Action Plan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963043"/>
            <a:ext cx="4722763" cy="13085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1348" y="24843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4652962" y="2123852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Fleet Re-Allocation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52962" y="2430363"/>
            <a:ext cx="383411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Restrict bike deliveries to distances under 5 km. Prioritize car dispatch during rain and snow events to preserve on-time performance.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413373"/>
            <a:ext cx="4722763" cy="13085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1348" y="393471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652962" y="3574182"/>
            <a:ext cx="3834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Dynamic Dispatch Routing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52962" y="3880693"/>
            <a:ext cx="383411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algorithmic EDT adjustments during evening high-traffic windows (6pm–9pm) to improve ETA accuracy and customer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28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 &amp; Next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6258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Expected Operational Impact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29664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6816" y="2345308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Reduced Delivery Delay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2651820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fleet re-allocation and dynamic EDT adjustments projected to reduce median delay by 15–20%.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2433" y="229664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33130" y="2345308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Improved ETA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33130" y="2651820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Weather-aware and traffic-aware dispatch models will tighten prediction confidence intervals across all vehicle types.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48747" y="229664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09445" y="2345308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Training Framework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09445" y="2873276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Veteran-driven onboarding reduces ramp-up time for new couriers and standardizes best-practice routing behavior.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2026-07-31T21:54:57Z</dcterms:created>
  <dcterms:modified xsi:type="dcterms:W3CDTF">2026-07-31T21:54:57Z</dcterms:modified>
</cp:coreProperties>
</file>